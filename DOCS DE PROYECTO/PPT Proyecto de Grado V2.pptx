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265" r:id="rId3"/>
    <p:sldId id="266" r:id="rId4"/>
    <p:sldId id="267" r:id="rId5"/>
    <p:sldId id="274" r:id="rId6"/>
    <p:sldId id="268" r:id="rId7"/>
    <p:sldId id="275" r:id="rId8"/>
    <p:sldId id="276" r:id="rId9"/>
    <p:sldId id="277" r:id="rId10"/>
    <p:sldId id="272" r:id="rId11"/>
    <p:sldId id="271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4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17966F-C870-792A-6217-C62D8FB87B71}" v="10" dt="2025-11-11T01:24:11.668"/>
    <p1510:client id="{B7397F6D-1111-4213-BC99-F4585FCF04EA}" v="28" dt="2025-11-11T01:14:03.0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ACHO VALENCIA CARLOS DANIEL" userId="b2f776bc-a81b-4c88-bbd5-4d93caf6827a" providerId="ADAL" clId="{2BD3AA81-4074-435C-BEED-4BCB4BB15197}"/>
    <pc:docChg chg="undo redo custSel delSld modSld">
      <pc:chgData name="CAMACHO VALENCIA CARLOS DANIEL" userId="b2f776bc-a81b-4c88-bbd5-4d93caf6827a" providerId="ADAL" clId="{2BD3AA81-4074-435C-BEED-4BCB4BB15197}" dt="2025-11-11T01:14:03.035" v="92" actId="6549"/>
      <pc:docMkLst>
        <pc:docMk/>
      </pc:docMkLst>
      <pc:sldChg chg="del">
        <pc:chgData name="CAMACHO VALENCIA CARLOS DANIEL" userId="b2f776bc-a81b-4c88-bbd5-4d93caf6827a" providerId="ADAL" clId="{2BD3AA81-4074-435C-BEED-4BCB4BB15197}" dt="2025-11-11T00:42:41.088" v="64" actId="47"/>
        <pc:sldMkLst>
          <pc:docMk/>
          <pc:sldMk cId="1813059357" sldId="269"/>
        </pc:sldMkLst>
      </pc:sldChg>
      <pc:sldChg chg="modSp mod">
        <pc:chgData name="CAMACHO VALENCIA CARLOS DANIEL" userId="b2f776bc-a81b-4c88-bbd5-4d93caf6827a" providerId="ADAL" clId="{2BD3AA81-4074-435C-BEED-4BCB4BB15197}" dt="2025-11-11T01:14:03.035" v="92" actId="6549"/>
        <pc:sldMkLst>
          <pc:docMk/>
          <pc:sldMk cId="240100847" sldId="275"/>
        </pc:sldMkLst>
        <pc:spChg chg="mod">
          <ac:chgData name="CAMACHO VALENCIA CARLOS DANIEL" userId="b2f776bc-a81b-4c88-bbd5-4d93caf6827a" providerId="ADAL" clId="{2BD3AA81-4074-435C-BEED-4BCB4BB15197}" dt="2025-11-11T01:14:03.035" v="92" actId="6549"/>
          <ac:spMkLst>
            <pc:docMk/>
            <pc:sldMk cId="240100847" sldId="275"/>
            <ac:spMk id="3" creationId="{DAE8495A-F5B1-3024-D412-23F4E0F30B00}"/>
          </ac:spMkLst>
        </pc:spChg>
      </pc:sldChg>
      <pc:sldChg chg="modSp mod">
        <pc:chgData name="CAMACHO VALENCIA CARLOS DANIEL" userId="b2f776bc-a81b-4c88-bbd5-4d93caf6827a" providerId="ADAL" clId="{2BD3AA81-4074-435C-BEED-4BCB4BB15197}" dt="2025-11-11T01:13:59.803" v="89" actId="20577"/>
        <pc:sldMkLst>
          <pc:docMk/>
          <pc:sldMk cId="866946819" sldId="276"/>
        </pc:sldMkLst>
        <pc:spChg chg="mod">
          <ac:chgData name="CAMACHO VALENCIA CARLOS DANIEL" userId="b2f776bc-a81b-4c88-bbd5-4d93caf6827a" providerId="ADAL" clId="{2BD3AA81-4074-435C-BEED-4BCB4BB15197}" dt="2025-11-11T01:13:59.803" v="89" actId="20577"/>
          <ac:spMkLst>
            <pc:docMk/>
            <pc:sldMk cId="866946819" sldId="276"/>
            <ac:spMk id="3" creationId="{A3B4868C-87E4-9DC2-FDF5-94BDA8758BA1}"/>
          </ac:spMkLst>
        </pc:spChg>
      </pc:sldChg>
    </pc:docChg>
  </pc:docChgLst>
  <pc:docChgLst>
    <pc:chgData name="DIAZ RAMIREZ CRISTIAN CAMILO" userId="S::ccdiaz@estudiante.uniajc.edu.co::53878fa6-c0e5-40b8-86cd-d1f9054a86d0" providerId="AD" clId="Web-{2917966F-C870-792A-6217-C62D8FB87B71}"/>
    <pc:docChg chg="modSld">
      <pc:chgData name="DIAZ RAMIREZ CRISTIAN CAMILO" userId="S::ccdiaz@estudiante.uniajc.edu.co::53878fa6-c0e5-40b8-86cd-d1f9054a86d0" providerId="AD" clId="Web-{2917966F-C870-792A-6217-C62D8FB87B71}" dt="2025-11-11T01:24:11.668" v="6" actId="20577"/>
      <pc:docMkLst>
        <pc:docMk/>
      </pc:docMkLst>
      <pc:sldChg chg="modSp">
        <pc:chgData name="DIAZ RAMIREZ CRISTIAN CAMILO" userId="S::ccdiaz@estudiante.uniajc.edu.co::53878fa6-c0e5-40b8-86cd-d1f9054a86d0" providerId="AD" clId="Web-{2917966F-C870-792A-6217-C62D8FB87B71}" dt="2025-11-11T00:49:22.642" v="4" actId="20577"/>
        <pc:sldMkLst>
          <pc:docMk/>
          <pc:sldMk cId="1901211413" sldId="265"/>
        </pc:sldMkLst>
        <pc:spChg chg="mod">
          <ac:chgData name="DIAZ RAMIREZ CRISTIAN CAMILO" userId="S::ccdiaz@estudiante.uniajc.edu.co::53878fa6-c0e5-40b8-86cd-d1f9054a86d0" providerId="AD" clId="Web-{2917966F-C870-792A-6217-C62D8FB87B71}" dt="2025-11-11T00:49:22.642" v="4" actId="20577"/>
          <ac:spMkLst>
            <pc:docMk/>
            <pc:sldMk cId="1901211413" sldId="265"/>
            <ac:spMk id="2" creationId="{EFC29D72-BD70-C444-BF78-1D460093CCC4}"/>
          </ac:spMkLst>
        </pc:spChg>
      </pc:sldChg>
      <pc:sldChg chg="modSp">
        <pc:chgData name="DIAZ RAMIREZ CRISTIAN CAMILO" userId="S::ccdiaz@estudiante.uniajc.edu.co::53878fa6-c0e5-40b8-86cd-d1f9054a86d0" providerId="AD" clId="Web-{2917966F-C870-792A-6217-C62D8FB87B71}" dt="2025-11-11T01:24:11.668" v="6" actId="20577"/>
        <pc:sldMkLst>
          <pc:docMk/>
          <pc:sldMk cId="240100847" sldId="275"/>
        </pc:sldMkLst>
        <pc:spChg chg="mod">
          <ac:chgData name="DIAZ RAMIREZ CRISTIAN CAMILO" userId="S::ccdiaz@estudiante.uniajc.edu.co::53878fa6-c0e5-40b8-86cd-d1f9054a86d0" providerId="AD" clId="Web-{2917966F-C870-792A-6217-C62D8FB87B71}" dt="2025-11-11T01:24:11.668" v="6" actId="20577"/>
          <ac:spMkLst>
            <pc:docMk/>
            <pc:sldMk cId="240100847" sldId="275"/>
            <ac:spMk id="3" creationId="{DAE8495A-F5B1-3024-D412-23F4E0F30B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E0BC47-72CD-BC43-A893-9B2CDD6D62DF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04DA4-E942-2747-A00B-6AF88B8B67E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81728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DFD872-157F-764F-87BC-6AB528158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4EE9-AD7C-5B44-A2DB-54A8AB07CC13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3C7884-A1E5-B144-9408-0D9770B6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289B5C-B980-F84D-8815-0C3777C9A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130C-72B4-ED46-83D4-1E3B7CD7B9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856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79D3A3-71B7-474D-B230-6C9ACC254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032" y="929148"/>
            <a:ext cx="7772402" cy="3097162"/>
          </a:xfrm>
        </p:spPr>
        <p:txBody>
          <a:bodyPr anchor="ctr">
            <a:noAutofit/>
          </a:bodyPr>
          <a:lstStyle>
            <a:lvl1pPr marL="0" indent="0" algn="ctr">
              <a:lnSpc>
                <a:spcPts val="4580"/>
              </a:lnSpc>
              <a:buFont typeface="+mj-lt"/>
              <a:buNone/>
              <a:defRPr sz="5400" b="1">
                <a:solidFill>
                  <a:srgbClr val="274F99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B1C9D1-98E6-BB4E-9C5F-9B7DD4DE1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032" y="4193628"/>
            <a:ext cx="7772402" cy="216272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7572FB-22AD-264F-A1BC-6F8F6174D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4EE9-AD7C-5B44-A2DB-54A8AB07CC13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4EBE59-F577-8A47-A3C1-DAE5EF5E9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1C9E1A-FB4A-6740-B1AD-EBCDB3F8C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130C-72B4-ED46-83D4-1E3B7CD7B9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33643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6FC5C-2605-CF40-99FE-4DE59CA5E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9649"/>
            <a:ext cx="10515600" cy="989216"/>
          </a:xfrm>
        </p:spPr>
        <p:txBody>
          <a:bodyPr anchor="ctr">
            <a:noAutofit/>
          </a:bodyPr>
          <a:lstStyle>
            <a:lvl1pPr algn="ctr"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FE8DC0-2C28-DE40-9839-76FE49E3F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625037"/>
            <a:ext cx="10515600" cy="408258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935722-DDF6-9D49-8B73-286AE5988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4EE9-AD7C-5B44-A2DB-54A8AB07CC13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74E019-3598-5C42-9E86-026AC62E7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3065D0-44C6-EC48-AEEF-C75E94958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130C-72B4-ED46-83D4-1E3B7CD7B9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1746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650EC-F419-894F-A3F8-8D769A421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600" b="1">
                <a:solidFill>
                  <a:srgbClr val="274F99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1E3C56-57E0-8340-8681-35934062A9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17291"/>
            <a:ext cx="5181600" cy="3846718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754634F-C845-E043-BE69-C87F1F27F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4EE9-AD7C-5B44-A2DB-54A8AB07CC13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E8DDF1-08A1-7E4E-B5BA-19FC76B69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E066FF6-22A7-6B4B-8217-BD67E945D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130C-72B4-ED46-83D4-1E3B7CD7B934}" type="slidenum">
              <a:rPr lang="es-CO" smtClean="0"/>
              <a:t>‹#›</a:t>
            </a:fld>
            <a:endParaRPr lang="es-CO"/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7C18F7ED-CC0B-C540-BF33-13E819D8FF1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72200" y="1917291"/>
            <a:ext cx="5181600" cy="3846718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11077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49A15BE-E350-E24F-A8DC-B261BAC0E7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173794" y="634027"/>
            <a:ext cx="7181594" cy="823912"/>
          </a:xfrm>
        </p:spPr>
        <p:txBody>
          <a:bodyPr anchor="ctr">
            <a:normAutofit/>
          </a:bodyPr>
          <a:lstStyle>
            <a:lvl1pPr marL="0" indent="0">
              <a:buNone/>
              <a:defRPr sz="3600" b="1">
                <a:solidFill>
                  <a:srgbClr val="274F99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3248808-5732-D04E-B62F-E6471DA0D4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173794" y="1666568"/>
            <a:ext cx="7181594" cy="452309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0EC0C8A-2CCB-2442-9BC6-DA3C1CA3F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4EE9-AD7C-5B44-A2DB-54A8AB07CC13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9F71B12-E339-7B4B-A2FA-C0FF20A05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9B6834F-8785-7944-B40F-23754D520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130C-72B4-ED46-83D4-1E3B7CD7B934}" type="slidenum">
              <a:rPr lang="es-CO" smtClean="0"/>
              <a:t>‹#›</a:t>
            </a:fld>
            <a:endParaRPr lang="es-CO"/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3369714F-CFAB-9E44-AF34-5A0C828BE1A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8015" y="1666569"/>
            <a:ext cx="3153102" cy="40246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DC84624F-1701-8A40-A753-43680CF58C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0663" y="633413"/>
            <a:ext cx="3232150" cy="8239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328924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9B64BB4-717B-0440-9050-AF8493A72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4EE9-AD7C-5B44-A2DB-54A8AB07CC13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88BF82A-2C68-BF4A-B357-993064199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F0A1A0-DFEB-9D4E-B485-147D98E47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130C-72B4-ED46-83D4-1E3B7CD7B934}" type="slidenum">
              <a:rPr lang="es-CO" smtClean="0"/>
              <a:t>‹#›</a:t>
            </a:fld>
            <a:endParaRPr lang="es-CO"/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DFE00833-ADAB-F64F-9E78-80F4FE8E2D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38200" y="634027"/>
            <a:ext cx="7181594" cy="823912"/>
          </a:xfrm>
        </p:spPr>
        <p:txBody>
          <a:bodyPr anchor="ctr">
            <a:normAutofit/>
          </a:bodyPr>
          <a:lstStyle>
            <a:lvl1pPr marL="0" indent="0">
              <a:buNone/>
              <a:defRPr sz="3600" b="1">
                <a:solidFill>
                  <a:srgbClr val="274F99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76AE1549-7569-3E41-852F-83D97253D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38200" y="1666568"/>
            <a:ext cx="7181594" cy="4523095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D497E5C3-E479-F142-B5A2-8F601E7064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843963" y="1666567"/>
            <a:ext cx="3106737" cy="4197657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1A5AF8B2-DC91-F940-BD2E-8A3CBA5B98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12213" y="633413"/>
            <a:ext cx="3138487" cy="823912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807460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3EF91EF-4CD2-DC4B-8BD0-A6568AB8F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4EE9-AD7C-5B44-A2DB-54A8AB07CC13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D5CA2B-8822-4243-A3FA-78AD86EFB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73C015-E114-724E-88FD-BDBE4379A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130C-72B4-ED46-83D4-1E3B7CD7B934}" type="slidenum">
              <a:rPr lang="es-CO" smtClean="0"/>
              <a:t>‹#›</a:t>
            </a:fld>
            <a:endParaRPr lang="es-CO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BAE4F327-C122-3841-B2F5-662BCAB881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9676" y="457201"/>
            <a:ext cx="4592034" cy="353147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816CF935-F2D7-2E46-8D09-4C8E84CED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675" y="4142263"/>
            <a:ext cx="4592035" cy="1627915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Marcador de posición de imagen 5">
            <a:extLst>
              <a:ext uri="{FF2B5EF4-FFF2-40B4-BE49-F238E27FC236}">
                <a16:creationId xmlns:a16="http://schemas.microsoft.com/office/drawing/2014/main" id="{8F486C27-2652-9642-8E18-33FF00FEE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4583" y="457201"/>
            <a:ext cx="4592034" cy="353147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3BAA8089-6DED-2D41-B2CA-4DCB7F47C9F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314583" y="4142262"/>
            <a:ext cx="4592035" cy="1627915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741363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52FF2D5-6226-8541-9727-759598366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4EE9-AD7C-5B44-A2DB-54A8AB07CC13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853BC2F-D123-D94A-963D-8750C113C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18D0A5-2F98-2741-B9A7-95D412203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130C-72B4-ED46-83D4-1E3B7CD7B9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5513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25749C7-87B5-954B-9D69-9F44AFC1B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1103E6-E8C6-D245-8D6A-E7232B20D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C7A8B0-F376-4F43-8AD4-E51550057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9D4EE9-AD7C-5B44-A2DB-54A8AB07CC13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4015FA-1FCB-144F-A03F-FCE95E75B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459D4B-E37A-4441-AC94-D5E7B25527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2C130C-72B4-ED46-83D4-1E3B7CD7B9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8256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274F99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161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C29D72-BD70-C444-BF78-1D460093C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APLICATIVO WEB DE GESTIÓN DE INVENTARIOS PARA TIENDA MUNDO COCO 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5BA52F-9A0F-3544-A10A-D32817EB4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/>
              <a:t>Cristian Camilo Diaz Ramírez</a:t>
            </a:r>
          </a:p>
          <a:p>
            <a:r>
              <a:rPr lang="es-CO"/>
              <a:t>Carlos Daniel Camacho Valencia</a:t>
            </a:r>
          </a:p>
        </p:txBody>
      </p:sp>
    </p:spTree>
    <p:extLst>
      <p:ext uri="{BB962C8B-B14F-4D97-AF65-F5344CB8AC3E}">
        <p14:creationId xmlns:p14="http://schemas.microsoft.com/office/powerpoint/2010/main" val="1901211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0AA367-A0CB-C24A-B940-C3122116E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Planteamiento del Problema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BA7269B-4DFA-1FD2-22D8-4810E1F05C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20" b="11846"/>
          <a:stretch>
            <a:fillRect/>
          </a:stretch>
        </p:blipFill>
        <p:spPr bwMode="auto">
          <a:xfrm>
            <a:off x="1730375" y="1618554"/>
            <a:ext cx="8718550" cy="408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9626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B4F156-C34A-8641-B85B-A8F5E2F16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Pruebas del problema</a:t>
            </a:r>
          </a:p>
        </p:txBody>
      </p:sp>
      <p:pic>
        <p:nvPicPr>
          <p:cNvPr id="6" name="Marcador de contenido 5" descr="Un pizarrón con un texto en blanco&#10;&#10;El contenido generado por IA puede ser incorrecto.">
            <a:extLst>
              <a:ext uri="{FF2B5EF4-FFF2-40B4-BE49-F238E27FC236}">
                <a16:creationId xmlns:a16="http://schemas.microsoft.com/office/drawing/2014/main" id="{62370CEE-00AB-DB0F-32A9-AB463CF57B3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t="18932" b="20879"/>
          <a:stretch>
            <a:fillRect/>
          </a:stretch>
        </p:blipFill>
        <p:spPr>
          <a:xfrm>
            <a:off x="1177048" y="1283500"/>
            <a:ext cx="3691690" cy="4621190"/>
          </a:xfrm>
        </p:spPr>
      </p:pic>
      <p:pic>
        <p:nvPicPr>
          <p:cNvPr id="8" name="Marcador de contenido 7" descr="Texto, Carta&#10;&#10;El contenido generado por IA puede ser incorrecto.">
            <a:extLst>
              <a:ext uri="{FF2B5EF4-FFF2-40B4-BE49-F238E27FC236}">
                <a16:creationId xmlns:a16="http://schemas.microsoft.com/office/drawing/2014/main" id="{498394A4-7966-1D65-E1EE-321CA2B9BA9F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3"/>
          <a:srcRect l="3056" t="16869" b="43151"/>
          <a:stretch>
            <a:fillRect/>
          </a:stretch>
        </p:blipFill>
        <p:spPr>
          <a:xfrm>
            <a:off x="5424054" y="1772284"/>
            <a:ext cx="6025771" cy="3313432"/>
          </a:xfrm>
        </p:spPr>
      </p:pic>
    </p:spTree>
    <p:extLst>
      <p:ext uri="{BB962C8B-B14F-4D97-AF65-F5344CB8AC3E}">
        <p14:creationId xmlns:p14="http://schemas.microsoft.com/office/powerpoint/2010/main" val="2212969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2A1AD-7DB2-ADBA-94B5-18449EE8E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EDFA8068-0DB2-C882-A3BB-0EE9ED04B0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04800" y="3017044"/>
            <a:ext cx="3136900" cy="823912"/>
          </a:xfrm>
        </p:spPr>
        <p:txBody>
          <a:bodyPr/>
          <a:lstStyle/>
          <a:p>
            <a:r>
              <a:rPr lang="es-CO">
                <a:solidFill>
                  <a:schemeClr val="bg1"/>
                </a:solidFill>
              </a:rPr>
              <a:t>Formulación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BBBEB9-23C2-49B5-00AF-93A8084438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173794" y="2471985"/>
            <a:ext cx="7181594" cy="3798247"/>
          </a:xfrm>
        </p:spPr>
        <p:txBody>
          <a:bodyPr>
            <a:normAutofit/>
          </a:bodyPr>
          <a:lstStyle/>
          <a:p>
            <a:r>
              <a:rPr lang="es-ES"/>
              <a:t>¿Cómo afecta la ausencia de un sistema automatizado de gestión de inventarios, que integre control de stock, registro de ventas, cuadre de caja y categorización de métodos de pago, en la rentabilidad y eficiencia operativa de la tienda MundoCoco ubicada en Cali, Colombia? </a:t>
            </a:r>
          </a:p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2556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DB5472C-D063-CB45-A2D2-FFCD900E3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04800" y="3017044"/>
            <a:ext cx="3136900" cy="823912"/>
          </a:xfrm>
        </p:spPr>
        <p:txBody>
          <a:bodyPr/>
          <a:lstStyle/>
          <a:p>
            <a:r>
              <a:rPr lang="es-CO">
                <a:solidFill>
                  <a:schemeClr val="bg1"/>
                </a:solidFill>
              </a:rPr>
              <a:t>Sistematización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014582-40E5-2F40-9DCB-F1C62E96BD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173794" y="1529876"/>
            <a:ext cx="7181594" cy="3798247"/>
          </a:xfrm>
        </p:spPr>
        <p:txBody>
          <a:bodyPr>
            <a:normAutofit fontScale="92500"/>
          </a:bodyPr>
          <a:lstStyle/>
          <a:p>
            <a:r>
              <a:rPr lang="es-ES"/>
              <a:t>¿En qué medida la gestión manual del inventario inicial y final impacta la </a:t>
            </a:r>
            <a:r>
              <a:rPr lang="es-ES" b="1"/>
              <a:t>precisión del control de stock</a:t>
            </a:r>
            <a:r>
              <a:rPr lang="es-ES"/>
              <a:t> en MundoCoco?</a:t>
            </a:r>
            <a:endParaRPr lang="es-CO"/>
          </a:p>
          <a:p>
            <a:r>
              <a:rPr lang="es-ES"/>
              <a:t>¿Cómo afecta la falta de información en tiempo real en el </a:t>
            </a:r>
            <a:r>
              <a:rPr lang="es-ES" b="1"/>
              <a:t>número de ventas perdidas</a:t>
            </a:r>
            <a:r>
              <a:rPr lang="es-ES"/>
              <a:t> por agotamiento de productos? </a:t>
            </a:r>
          </a:p>
          <a:p>
            <a:r>
              <a:rPr lang="es-ES"/>
              <a:t>¿Qué efecto tienen los procesos manuales de cuadre de caja y registro de ventas en el </a:t>
            </a:r>
            <a:r>
              <a:rPr lang="es-ES" b="1"/>
              <a:t>tiempo promedio de cierre de jornada</a:t>
            </a:r>
            <a:r>
              <a:rPr lang="es-ES"/>
              <a:t> y en la </a:t>
            </a:r>
            <a:r>
              <a:rPr lang="es-ES" b="1"/>
              <a:t>exactitud del reporte financiero</a:t>
            </a:r>
            <a:r>
              <a:rPr lang="es-ES"/>
              <a:t>?</a:t>
            </a:r>
            <a:endParaRPr lang="es-CO"/>
          </a:p>
          <a:p>
            <a:r>
              <a:rPr lang="es-ES"/>
              <a:t>¿Cómo influye la ausencia de categorización de métodos de pago en la conciliación financiera y el análisis de ventas por canal (efectivo, transferencias bancarias, tarjetas)?</a:t>
            </a:r>
            <a:endParaRPr lang="es-CO"/>
          </a:p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3638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27019-6668-2756-C0BA-DD2A40D55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20AB9C-F034-2CF9-E628-AD6405D66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Objetivo General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AE8495A-F5B1-3024-D412-23F4E0F30B00}"/>
              </a:ext>
            </a:extLst>
          </p:cNvPr>
          <p:cNvSpPr txBox="1"/>
          <p:nvPr/>
        </p:nvSpPr>
        <p:spPr>
          <a:xfrm>
            <a:off x="520700" y="2136338"/>
            <a:ext cx="11430000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/>
              <a:t>Desarrollar un sistema web de gestión de inventarios para </a:t>
            </a:r>
            <a:r>
              <a:rPr lang="es-ES" err="1"/>
              <a:t>MundoCoco</a:t>
            </a:r>
            <a:r>
              <a:rPr lang="es-ES"/>
              <a:t> que agiliza los procesos de control de stock, registro de ventas y cuadre de caja, incorporando la categorización de métodos de pago, con el fin de mejorar la precisión operativa, reducir pérdidas y optimizar la rentabilidad del negocio. </a:t>
            </a:r>
          </a:p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0100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E8FD3-2908-7121-084A-F5AAD5614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DB0C09-1B28-8179-51A6-439BD97D4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Objetivos Específicos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3B4868C-87E4-9DC2-FDF5-94BDA8758BA1}"/>
              </a:ext>
            </a:extLst>
          </p:cNvPr>
          <p:cNvSpPr txBox="1"/>
          <p:nvPr/>
        </p:nvSpPr>
        <p:spPr>
          <a:xfrm>
            <a:off x="520700" y="1568302"/>
            <a:ext cx="11430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/>
              <a:t>Realizar el levantamiento de requisitos con el cliente MundoCoco mediante entrevistas y análisis de procesos, para identificar sus necesidades y expectativas y así definir claramente las funcionalidades y características del sistema de gestión de inventarios.  2 semanas</a:t>
            </a:r>
          </a:p>
          <a:p>
            <a:pPr marL="342900" indent="-342900">
              <a:buFont typeface="+mj-lt"/>
              <a:buAutoNum type="arabicPeriod"/>
            </a:pPr>
            <a:endParaRPr lang="es-ES"/>
          </a:p>
          <a:p>
            <a:pPr marL="342900" indent="-342900">
              <a:buFont typeface="+mj-lt"/>
              <a:buAutoNum type="arabicPeriod"/>
            </a:pPr>
            <a:r>
              <a:rPr lang="es-ES"/>
              <a:t>Diseñar la arquitectura funcional del sistema web, definiendo los módulos de gestión de inventario, ventas y caja, acorde con los requisitos operativos de MundoCoco. 2 semanas</a:t>
            </a:r>
          </a:p>
          <a:p>
            <a:pPr marL="342900" indent="-342900">
              <a:buFont typeface="+mj-lt"/>
              <a:buAutoNum type="arabicPeriod"/>
            </a:pPr>
            <a:endParaRPr lang="es-ES"/>
          </a:p>
          <a:p>
            <a:pPr marL="342900" indent="-342900">
              <a:buFont typeface="+mj-lt"/>
              <a:buAutoNum type="arabicPeriod"/>
            </a:pPr>
            <a:r>
              <a:rPr lang="es-ES"/>
              <a:t>Desarrollar funcionalidades de cuadre de caja y registro de ventas integradas al sistema de inventarios, que agilicen los procesos de conciliación financiera diaria, implementando mecanismos de actualización en tiempo real, generación de reportes y trazabilidad para el control de entradas y salidas de productos, incluyendo la categorización de métodos de pago (efectivo, transferencias bancarias, tarjeta débito/crédito, entre otros) para análisis y control financiero. 10 semanas</a:t>
            </a:r>
          </a:p>
          <a:p>
            <a:pPr marL="342900" indent="-342900">
              <a:buFont typeface="+mj-lt"/>
              <a:buAutoNum type="arabicPeriod"/>
            </a:pPr>
            <a:endParaRPr lang="es-ES"/>
          </a:p>
          <a:p>
            <a:pPr marL="342900" indent="-342900">
              <a:buFont typeface="+mj-lt"/>
              <a:buAutoNum type="arabicPeriod"/>
            </a:pPr>
            <a:r>
              <a:rPr lang="es-ES"/>
              <a:t>Validar el desempeño del sistema mediante pruebas de usabilidad y simulaciones de operación real en MundoCoco, midiendo los indicadores de precisión de inventario, tiempo de proceso y reducción de pérdidas. 4 semanas</a:t>
            </a:r>
          </a:p>
          <a:p>
            <a:pPr marL="342900" indent="-342900">
              <a:buFont typeface="+mj-lt"/>
              <a:buAutoNum type="arabicPeriod"/>
            </a:pP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66946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06164-3015-906B-5ABC-145F7ED30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A13F1C-7BEF-0042-0143-1FBB3CC62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Resultados e impactos esperados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FEF2987-323E-F88A-DC04-7781B9DD4775}"/>
              </a:ext>
            </a:extLst>
          </p:cNvPr>
          <p:cNvSpPr txBox="1"/>
          <p:nvPr/>
        </p:nvSpPr>
        <p:spPr>
          <a:xfrm>
            <a:off x="520700" y="1568302"/>
            <a:ext cx="11430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/>
              <a:t>Resultados esperados:</a:t>
            </a:r>
            <a:r>
              <a:rPr lang="es-CO"/>
              <a:t>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Registro de productos con trazabilidad y alertas de stock en tiempo real.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Integración del módulo de ventas con cuadre de caja, incluyendo categorización de métodos de pago.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Reducción de errores humanos y tiempos operativos.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Información en tiempo real para decisiones más acertadas.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Reportes financieros y operativos automatizados.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/>
          </a:p>
          <a:p>
            <a:r>
              <a:rPr lang="es-CO" b="1"/>
              <a:t>Impactos esperados:</a:t>
            </a:r>
            <a:r>
              <a:rPr lang="es-CO"/>
              <a:t>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Disminución de pérdidas económicas.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Mejora en la eficiencia operativa.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Mayor competitividad y posibilidad de escalar el negocio.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Fortalecimiento de capacidades técnicas del equipo en desarrollo ágil.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0727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2F0A0-7324-A29B-F3F8-85424A1A3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023F8F-0416-F9FB-A538-C14BB0AFE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Justificación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13B8DEE-C0B0-35D8-84DA-09D5AE4273E1}"/>
              </a:ext>
            </a:extLst>
          </p:cNvPr>
          <p:cNvSpPr txBox="1"/>
          <p:nvPr/>
        </p:nvSpPr>
        <p:spPr>
          <a:xfrm>
            <a:off x="520700" y="2136338"/>
            <a:ext cx="11430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El desarrollo de un sistema web de gestión de inventarios para la tienda MundoCoco responde a una necesidad crítica identificada en sus procesos actuales</a:t>
            </a:r>
          </a:p>
          <a:p>
            <a:endParaRPr lang="es-ES"/>
          </a:p>
          <a:p>
            <a:r>
              <a:rPr lang="es-ES"/>
              <a:t>El proyecto tiene una aplicabilidad directa, ya que aborda problemas reales como quiebres de stock, acumulación de productos de baja rotación y falta de trazabilidad en entradas y salidas de mercancía</a:t>
            </a:r>
          </a:p>
          <a:p>
            <a:endParaRPr lang="es-ES"/>
          </a:p>
          <a:p>
            <a:r>
              <a:rPr lang="es-ES"/>
              <a:t>El proyecto es viable dentro del marco académico y operativo, dado que se cuenta con el recurso humano capacitado en desarrollo web, bases de datos y metodologías ágiles, así como con herramientas tecnológicas accesibles para su implementación. 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54048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4810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8AC65517-07F4-8A47-8CB3-F7C6A85DCD7F}" vid="{D7DBD42E-34E5-C44C-9E6B-CD4CB066CEF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UNIAJC 2025</Template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Tema de Office</vt:lpstr>
      <vt:lpstr>PowerPoint Presentation</vt:lpstr>
      <vt:lpstr>APLICATIVO WEB DE GESTIÓN DE INVENTARIOS PARA TIENDA MUNDO COCO </vt:lpstr>
      <vt:lpstr>Planteamiento del Problema</vt:lpstr>
      <vt:lpstr>Pruebas del problema</vt:lpstr>
      <vt:lpstr>PowerPoint Presentation</vt:lpstr>
      <vt:lpstr>PowerPoint Presentation</vt:lpstr>
      <vt:lpstr>Objetivo General</vt:lpstr>
      <vt:lpstr>Objetivos Específicos</vt:lpstr>
      <vt:lpstr>Resultados e impactos esperados </vt:lpstr>
      <vt:lpstr>Justificación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CAMACHO VALENCIA CARLOS DANIEL</dc:creator>
  <cp:revision>1</cp:revision>
  <dcterms:created xsi:type="dcterms:W3CDTF">2025-11-10T22:38:00Z</dcterms:created>
  <dcterms:modified xsi:type="dcterms:W3CDTF">2025-11-11T01:24:49Z</dcterms:modified>
</cp:coreProperties>
</file>